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68880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34840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799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66760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32720" y="228600"/>
            <a:ext cx="1234440" cy="73152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813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Household Electricity</a:t>
            </a:r>
            <a:br/>
            <a:r>
              <a:t>Demand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EBF2F7"/>
                </a:solidFill>
              </a:defRPr>
            </a:pPr>
            <a:r>
              <a:t>Machine Learning Project • Forecasting future electricity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3246120" cy="114300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51960"/>
            <a:ext cx="73152" cy="114300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1655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73752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UCI Individual Household Electric Power Consumption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251960"/>
            <a:ext cx="3246120" cy="114300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4251960"/>
            <a:ext cx="73152" cy="114300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41655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873752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Linear Regression • Random Forest • XGBoost • LSTM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251960"/>
            <a:ext cx="3246120" cy="114300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4251960"/>
            <a:ext cx="73152" cy="114300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41655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873752"/>
            <a:ext cx="2834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Forecasting + energy management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D37"/>
                </a:solidFill>
              </a:defRPr>
            </a:pPr>
            <a:r>
              <a:t>Electricity demand changes with time, appliance usage, weather, routines, and peak-hour behavior.</a:t>
            </a:r>
          </a:p>
          <a:p>
            <a:pPr>
              <a:spcAft>
                <a:spcPts val="1000"/>
              </a:spcAft>
              <a:defRPr sz="1900" b="0">
                <a:solidFill>
                  <a:srgbClr val="232D37"/>
                </a:solidFill>
              </a:defRPr>
            </a:pPr>
            <a:r>
              <a:t>Households and buildings need better forecasts to plan consumption and reduce avoidable energy use.</a:t>
            </a:r>
          </a:p>
          <a:p>
            <a:pPr>
              <a:spcAft>
                <a:spcPts val="1000"/>
              </a:spcAft>
              <a:defRPr sz="1900" b="0">
                <a:solidFill>
                  <a:srgbClr val="232D37"/>
                </a:solidFill>
              </a:defRPr>
            </a:pPr>
            <a:r>
              <a:t>Goal: build ML models that predict future electricity consumption from historical power measurements.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D37"/>
                </a:solidFill>
              </a:defRPr>
            </a:pPr>
            <a:r>
              <a:t>Compare traditional ML models with an LSTM time-series model and evaluate their forecasting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5166360"/>
            <a:ext cx="3383280" cy="777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166360"/>
            <a:ext cx="73152" cy="77724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30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88152"/>
            <a:ext cx="29718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Historical electricity + time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166360"/>
            <a:ext cx="3383280" cy="777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5166360"/>
            <a:ext cx="73152" cy="77724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5330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5788152"/>
            <a:ext cx="29718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Learn consumption patterns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5166360"/>
            <a:ext cx="3383280" cy="777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5166360"/>
            <a:ext cx="73152" cy="77724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330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788152"/>
            <a:ext cx="29718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Future electricity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2. Dataset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A"/>
                </a:solidFill>
              </a:defRPr>
            </a:pPr>
            <a:r>
              <a:t>UCI Individual Household Electric Power Consumption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9601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Electrical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Global active power, Global reactive power, Voltage, Global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06040"/>
            <a:ext cx="530352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606040"/>
            <a:ext cx="73152" cy="9601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Sub-metering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Global active power sub-metering 1, 2 and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530352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94760"/>
            <a:ext cx="73152" cy="9601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93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4892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Date and time at minute-level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21208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73152" cy="9601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819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3911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Future electricity consumption / next-step Global Active Power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06040"/>
            <a:ext cx="521208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606040"/>
            <a:ext cx="73152" cy="9601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706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Time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2783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Hour, day, weekday/weekend, month, peak-hour indicator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94760"/>
            <a:ext cx="521208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94760"/>
            <a:ext cx="73152" cy="9601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5935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Historical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416552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Lag consumption and rolling average to capture temporal patterns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E7A"/>
                </a:solidFill>
              </a:defRPr>
            </a:pPr>
            <a:r>
              <a:t>Dataset source: UCI Machine Learning Repository — Individual Household Electric Power Consumption.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3.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73152" cy="14173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1. 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Load UCI power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630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463040"/>
            <a:ext cx="73152" cy="14173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276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2.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848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Handle '?' and 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73152" cy="14173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276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3.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Create time, lag &amp; rolling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73152" cy="14173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6276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4.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0848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Chronological train/test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5204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520440"/>
            <a:ext cx="73152" cy="14173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850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5.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422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LR • RF • XGBoost • LSTM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5204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520440"/>
            <a:ext cx="73152" cy="14173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36850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6. 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1422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MAE • RMSE • MAPE • R²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20440"/>
            <a:ext cx="2560320" cy="14173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520440"/>
            <a:ext cx="73152" cy="14173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85032"/>
            <a:ext cx="2148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7.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42232"/>
            <a:ext cx="21488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Interactive energy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4. Data Loading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A"/>
                </a:solidFill>
              </a:defRPr>
            </a:pPr>
            <a:r>
              <a:t>Core Python / Pandas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url = "household_power_consumption.txt"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 = pd.read_csv(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    url, sep=";", na_values="?", low_memory=False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df["datetime"] = pd.to_datetime(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    df["Date"] + " " + df["Time"],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    dayfirst=True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 = df.drop(columns=["Date", "Time"])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 = df.sort_values("datetime")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 = df.set_index("datetime")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# Convert numeric columns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num_cols = df.columns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df[num_cols] = df[num_cols].apply(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    pd.to_numeric, errors="coerce"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# Time interpolation for missing observations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df[num_cols] = df[num_cols].interpolate(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    method="time"</a:t>
            </a:r>
          </a:p>
          <a:p>
            <a:pPr>
              <a:spcAft>
                <a:spcPts val="0"/>
              </a:spcAft>
              <a:defRPr sz="1100">
                <a:solidFill>
                  <a:srgbClr val="F8FAFC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5.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A"/>
                </a:solidFill>
              </a:defRPr>
            </a:pPr>
            <a:r>
              <a:t>Convert raw time-series data into predictive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# Target: next time-step electricity consumption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df["target"] = df["Global_active_power"].shift(-1)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# Calendar features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df["hour"] = df.index.hour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df["day"] = df.index.day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df["month"] = df.index.month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df["weekday"] = df.index.dayofweek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df["is_weekend"] = (df["weekday"] &gt;= 5).astype(int)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# Peak-hour indicator (example)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df["is_peak"] = df["hour"].isin(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    [7, 8, 9, 18, 19, 20, 21]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).astype(int)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# Lag + rolling features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df["lag_1"] = df["Global_active_power"].shift(1)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df["lag_60"] = df["Global_active_power"].shift(60)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df["rolling_60"] = (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    df["Global_active_power"].rolling(60).mean()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70">
                <a:solidFill>
                  <a:srgbClr val="F8FAFC"/>
                </a:solidFill>
                <a:latin typeface="Consolas"/>
              </a:defRPr>
            </a:pPr>
            <a:r>
              <a:t>df = df.dropna()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6. Train/Test Split &amp; Scaling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features = [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"Global_reactive_power", "Voltage",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"Global_intensity", "Sub_metering_1",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"Sub_metering_2", "Sub_metering_3",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"hour", "day", "month", "weekday",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"is_weekend", "is_peak",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    "lag_1", "lag_60", "rolling_60"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X = df[features]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y = df["target"]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# Time-series rule: do NOT randomly shuffle the data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split = int(len(df) * 0.80)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X_train, X_test = X.iloc[:split], X.iloc[split:]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y_train, y_test = y.iloc[:split], y.iloc[split:]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X_train_scaled = scaler.fit_transform(X_train)</a:t>
            </a:r>
          </a:p>
          <a:p>
            <a:pPr>
              <a:spcAft>
                <a:spcPts val="0"/>
              </a:spcAft>
              <a:defRPr sz="1080">
                <a:solidFill>
                  <a:srgbClr val="F8FAFC"/>
                </a:solidFill>
                <a:latin typeface="Consolas"/>
              </a:defRPr>
            </a:pPr>
            <a:r>
              <a:t>X_test_scaled = scaler.transform(X_test)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7. Machine Learning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606040" cy="34747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34747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Linear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219456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Baseline model.</a:t>
            </a:r>
            <a:br/>
            <a:br/>
            <a:r>
              <a:t>Fast and interpretable.</a:t>
            </a:r>
            <a:br/>
            <a:br/>
            <a:r>
              <a:t>Useful for measuring how much performance is gained from nonlinear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606040" cy="34747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417320"/>
            <a:ext cx="73152" cy="34747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39112"/>
            <a:ext cx="219456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Ensemble of decision trees.</a:t>
            </a:r>
            <a:br/>
            <a:br/>
            <a:r>
              <a:t>Captures nonlinear relationships and feature interactions.</a:t>
            </a:r>
            <a:br/>
            <a:br/>
            <a:r>
              <a:t>Robust baseline for tabular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606040" cy="34747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73152" cy="34747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219456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Gradient-boosted decision trees.</a:t>
            </a:r>
            <a:br/>
            <a:br/>
            <a:r>
              <a:t>Strong performance on structured/tabular features.</a:t>
            </a:r>
            <a:br/>
            <a:br/>
            <a:r>
              <a:t>Supports regularization and feature importance.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417320"/>
            <a:ext cx="2606040" cy="34747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417320"/>
            <a:ext cx="73152" cy="34747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LSTM 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39112"/>
            <a:ext cx="219456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Recurrent neural network designed for sequences.</a:t>
            </a:r>
            <a:br/>
            <a:br/>
            <a:r>
              <a:t>Learns temporal dependencies directly from ordered historical observations.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8. Model Training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A"/>
                </a:solidFill>
              </a:defRPr>
            </a:pPr>
            <a:r>
              <a:t>Linear Regression, Random Forest and 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from sklearn.ensemble import RandomForestRegressor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from xgboost import XGBRegressor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models = {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"Linear Regression": LinearRegression(),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"Random Forest": RandomForestRegressor(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n_estimators=200, max_depth=15,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random_state=42, n_jobs=-1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),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"XGBoost": XGBRegressor(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n_estimators=500, max_depth=8,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learning_rate=0.05, subsample=0.8,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colsample_bytree=0.8,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objective="reg:squarederror",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    random_state=42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predictions = {}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for name, model in models.items():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model.fit(X_train_scaled, y_train)</a:t>
            </a:r>
          </a:p>
          <a:p>
            <a:pPr>
              <a:spcAft>
                <a:spcPts val="0"/>
              </a:spcAft>
              <a:defRPr sz="1060">
                <a:solidFill>
                  <a:srgbClr val="F8FAFC"/>
                </a:solidFill>
                <a:latin typeface="Consolas"/>
              </a:defRPr>
            </a:pPr>
            <a:r>
              <a:t>    predictions[name] = model.predict(X_test_scaled)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9. LSTM Time-Series Model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E7A"/>
                </a:solidFill>
              </a:defRPr>
            </a:pPr>
            <a:r>
              <a:t>Create sequences so the network can learn from previous time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from tensorflow.keras.models import Sequential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from tensorflow.keras.layers import LSTM, Dense, Dropout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# Example: use scaled target as a univariate sequence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values = df["Global_active_power"].values.reshape(-1, 1)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from sklearn.preprocessing import MinMaxScaler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mm = MinMaxScaler()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values_scaled = mm.fit_transform(values)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def make_sequences(data, window=60):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X, y = [], []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for i in range(window, len(data)):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    X.append(data[i-window:i])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    y.append(data[i])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return np.array(X), np.array(y)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X_seq, y_seq = make_sequences(values_scaled, 60)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split = int(len(X_seq) * 0.80)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Xtr, Xte = X_seq[:split], X_seq[split:]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ytr, yte = y_seq[:split], y_seq[split:]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model = Sequential([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LSTM(64, return_sequences=True,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     input_shape=(Xtr.shape[1], Xtr.shape[2])),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Dropout(0.2),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LSTM(32),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Dense(1)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model.compile(optimizer="adam", loss="mse")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model.fit(Xtr, ytr, epochs=10,</a:t>
            </a:r>
          </a:p>
          <a:p>
            <a:pPr>
              <a:spcAft>
                <a:spcPts val="0"/>
              </a:spcAft>
              <a:defRPr sz="940">
                <a:solidFill>
                  <a:srgbClr val="F8FAFC"/>
                </a:solidFill>
                <a:latin typeface="Consolas"/>
              </a:defRPr>
            </a:pPr>
            <a:r>
              <a:t>          batch_size=64, validation_split=0.1)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10. 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606040" cy="3063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73152" cy="306324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MAE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Mean Absolute Error</a:t>
            </a:r>
            <a:br/>
            <a:br/>
            <a:r>
              <a:t>Average absolute difference between actual and predicted consumption.</a:t>
            </a:r>
            <a:br/>
            <a:br/>
            <a:r>
              <a:t>Lower = better.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606040" cy="3063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1417320"/>
            <a:ext cx="73152" cy="306324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39112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Root Mean Squared Error</a:t>
            </a:r>
            <a:br/>
            <a:br/>
            <a:r>
              <a:t>Penalizes large forecasting errors more strongly.</a:t>
            </a:r>
            <a:br/>
            <a:br/>
            <a:r>
              <a:t>Lower = better.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606040" cy="3063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73152" cy="306324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MAPE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Mean Absolute Percentage Error</a:t>
            </a:r>
            <a:br/>
            <a:br/>
            <a:r>
              <a:t>Expresses average error as a percentage.</a:t>
            </a:r>
            <a:br/>
            <a:br/>
            <a:r>
              <a:t>Lower = better.</a:t>
            </a:r>
            <a:br/>
            <a:br/>
            <a:r>
              <a:t>Caution with near-zero actual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417320"/>
            <a:ext cx="2606040" cy="306324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417320"/>
            <a:ext cx="73152" cy="306324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581912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39112"/>
            <a:ext cx="2194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Coefficient of determination.</a:t>
            </a:r>
            <a:br/>
            <a:br/>
            <a:r>
              <a:t>Measures explained variance.</a:t>
            </a:r>
            <a:br/>
            <a:br/>
            <a:r>
              <a:t>Higher = better.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54880"/>
            <a:ext cx="10698480" cy="132588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892040"/>
            <a:ext cx="102961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from sklearn.metrics import mean_absolute_error, mean_squared_error, r2_score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def evaluate(y_true, y_pred):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mae = mean_absolute_error(y_true, y_pred)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rmse = np.sqrt(mean_squared_error(y_true, y_pred))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mape = np.mean(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    np.abs((y_true - y_pred) / np.maximum(np.abs(y_true), 1e-6))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) * 100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r2 = r2_score(y_true, y_pred)</a:t>
            </a:r>
          </a:p>
          <a:p>
            <a:pPr>
              <a:spcAft>
                <a:spcPts val="0"/>
              </a:spcAft>
              <a:defRPr sz="860">
                <a:solidFill>
                  <a:srgbClr val="F8FAFC"/>
                </a:solidFill>
                <a:latin typeface="Consolas"/>
              </a:defRPr>
            </a:pPr>
            <a:r>
              <a:t>    return mae, rmse, mape, 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11. Compare Models &amp; Visualize Forecasts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1463039"/>
            <a:ext cx="10570464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results = []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for name, pred in predictions.items():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    mae, rmse, mape, r2 = evaluate(y_test, pred)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    results.append([name, mae, rmse, mape, r2])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results_df = pd.DataFrame(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    results,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    columns=["Model", "MAE", "RMSE", "MAPE", "R2"]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).sort_values("RMSE")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print(results_df)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# Actual vs predicted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plt.figure(figsize=(12, 5))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plt.plot(y_test.iloc[:500].values, label="Actual")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plt.plot(predictions[results_df.iloc[0]["Model"]][:500],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         label="Predicted")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plt.xlabel("Time step")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plt.ylabel("Global Active Power")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plt.title("Actual vs Predicted Electricity Demand")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plt.legend()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plt.tight_layout()</a:t>
            </a:r>
          </a:p>
          <a:p>
            <a:pPr>
              <a:spcAft>
                <a:spcPts val="0"/>
              </a:spcAft>
              <a:defRPr sz="960">
                <a:solidFill>
                  <a:srgbClr val="F8FAFC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12. Deployment: Energy Management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73152" cy="109728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Streamlit web app showing current and predicted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109728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Next-hour / next-day electricity consumption forecast.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417320"/>
            <a:ext cx="73152" cy="109728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8191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3911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Peak-demand warnings and unusual consumption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036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80360"/>
            <a:ext cx="73152" cy="109728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449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Visualizations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Daily, weekly and monthly consumption trends.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88036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880360"/>
            <a:ext cx="73152" cy="109728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0449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Recommendations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5021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Suggest shifting flexible usage away from peak periods.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880360"/>
            <a:ext cx="3337560" cy="109728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2880360"/>
            <a:ext cx="73152" cy="109728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044952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Model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02152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Save trained model and expose predictions through an app/API.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34840"/>
            <a:ext cx="10698480" cy="1508760"/>
          </a:xfrm>
          <a:prstGeom prst="roundRect">
            <a:avLst/>
          </a:prstGeom>
          <a:solidFill>
            <a:srgbClr val="12202F"/>
          </a:solidFill>
          <a:ln>
            <a:solidFill>
              <a:srgbClr val="2D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572000"/>
            <a:ext cx="10296144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# streamlit_app.py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import streamlit as st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import joblib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model = joblib.load("best_model.pkl")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st.title("⚡ Household Energy Dashboard")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st.metric("Predicted Demand", "1.84 kW")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st.line_chart(history_df["Global_active_power"])</a:t>
            </a:r>
          </a:p>
          <a:p>
            <a:pPr>
              <a:spcAft>
                <a:spcPts val="0"/>
              </a:spcAft>
              <a:defRPr sz="919">
                <a:solidFill>
                  <a:srgbClr val="F8FAFC"/>
                </a:solidFill>
                <a:latin typeface="Consolas"/>
              </a:defRPr>
            </a:pPr>
            <a:r>
              <a:t>st.warning("Peak-hour demand detected")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2F"/>
                </a:solidFill>
              </a:defRPr>
            </a:pPr>
            <a:r>
              <a:t>13. Real-World Impact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Energy conservation: identify high-demand periods and encourage efficient usage.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Demand planning: help households/buildings anticipate upcoming electricity needs.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Peak-load management: support scheduling of flexible appliances during lower-demand periods.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Anomaly detection: flag unusual consumption patterns for further investigation.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Future scope: add weather, tariff, occupancy, solar generation and smart-meter streaming data.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7"/>
                </a:solidFill>
              </a:defRPr>
            </a:pPr>
            <a:r>
              <a:t>Advanced forecasting: multi-step forecasting, attention/Transformer models and probabilistic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14. Complete Project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data/household_power_consumption.txt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notebooks/01_eda.ipynb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src/preprocess.py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src/features.py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src/train_ml.py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src/train_lstm.py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src/evaluate.py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app/streamlit_app.py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models/best_model.pkl</a:t>
            </a:r>
          </a:p>
          <a:p>
            <a:pPr>
              <a:spcAft>
                <a:spcPts val="1000"/>
              </a:spcAft>
              <a:defRPr sz="1800" b="0">
                <a:solidFill>
                  <a:srgbClr val="F8FAFC"/>
                </a:solidFill>
              </a:defRPr>
            </a:pPr>
            <a:r>
              <a:t>requirements.txt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448056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508760"/>
            <a:ext cx="73152" cy="960120"/>
          </a:xfrm>
          <a:prstGeom prst="rect">
            <a:avLst/>
          </a:prstGeom>
          <a:solidFill>
            <a:srgbClr val="28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73351"/>
            <a:ext cx="4069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Recommended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130552"/>
            <a:ext cx="4069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Python • Pandas • NumPy • Scikit-learn • XGBoost • TensorFlow/Keras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448056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73152" cy="960120"/>
          </a:xfrm>
          <a:prstGeom prst="rect">
            <a:avLst/>
          </a:prstGeom>
          <a:solidFill>
            <a:srgbClr val="2F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07792"/>
            <a:ext cx="4069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364992"/>
            <a:ext cx="4069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Streamlit dashboard + saved best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77639"/>
            <a:ext cx="4480560" cy="960120"/>
          </a:xfrm>
          <a:prstGeom prst="roundRect">
            <a:avLst/>
          </a:prstGeom>
          <a:solidFill>
            <a:srgbClr val="EBF2F7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977639"/>
            <a:ext cx="73152" cy="960120"/>
          </a:xfrm>
          <a:prstGeom prst="rect">
            <a:avLst/>
          </a:prstGeom>
          <a:solidFill>
            <a:srgbClr val="24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142231"/>
            <a:ext cx="4069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02F"/>
                </a:solidFill>
              </a:defRPr>
            </a:pPr>
            <a:r>
              <a:t>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599431"/>
            <a:ext cx="4069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Compare all models using the same chronological test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718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BF2F7"/>
                </a:solidFill>
              </a:defRPr>
            </a:pPr>
            <a:r>
              <a:t>Household Electricity Demand Prediction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E7A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